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12192000" cy="6858000"/>
  <p:notesSz cx="6858000" cy="9144000"/>
  <p:embeddedFontLst>
    <p:embeddedFont>
      <p:font typeface="Urbanist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455F51E-EFE9-1D24-206B-80F55DB5B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>
            <a:extLst>
              <a:ext uri="{FF2B5EF4-FFF2-40B4-BE49-F238E27FC236}">
                <a16:creationId xmlns:a16="http://schemas.microsoft.com/office/drawing/2014/main" id="{034DCE05-EAC6-6B54-054F-4820B312D9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>
            <a:extLst>
              <a:ext uri="{FF2B5EF4-FFF2-40B4-BE49-F238E27FC236}">
                <a16:creationId xmlns:a16="http://schemas.microsoft.com/office/drawing/2014/main" id="{BA1A798D-797C-12CE-5FAE-B378BF49A8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901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89414"/>
            <a:ext cx="11029950" cy="56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81025" y="1164163"/>
            <a:ext cx="38139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INTELIGENCIA ARTIFICIAL 1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2336045"/>
            <a:ext cx="11581447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Aprendizaje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por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Refuerzo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Ping Pong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629675"/>
            <a:ext cx="551497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Implementación</a:t>
            </a:r>
            <a:r>
              <a:rPr lang="en-US" sz="2400" b="0" i="0" u="none" strike="noStrike" cap="none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con Q-Learning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33587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0" y="2052637"/>
            <a:ext cx="519112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71525" y="581025"/>
            <a:ext cx="11381422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El Entorno de Juego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81025" y="581025"/>
            <a:ext cx="57150" cy="638175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89414" y="2047279"/>
            <a:ext cx="5229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5050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8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Motor: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Pygame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2555825"/>
            <a:ext cx="52292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5050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8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Modo:</a:t>
            </a:r>
            <a:r>
              <a:rPr lang="en-US" sz="18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2 vs 2 (Dobles).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3064371"/>
            <a:ext cx="5229225" cy="1748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5050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8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Jugadores: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81025" y="4955678"/>
            <a:ext cx="52292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5050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8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Mecánica</a:t>
            </a:r>
            <a:r>
              <a:rPr lang="en-US" sz="18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Única</a:t>
            </a:r>
            <a:r>
              <a:rPr lang="en-US" sz="18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"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Empuje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" con cooldown de 300 frames (5 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segundos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103" name="Google Shape;103;p14"/>
          <p:cNvSpPr/>
          <p:nvPr/>
        </p:nvSpPr>
        <p:spPr>
          <a:xfrm>
            <a:off x="6591300" y="3561308"/>
            <a:ext cx="142875" cy="762000"/>
          </a:xfrm>
          <a:prstGeom prst="roundRect">
            <a:avLst>
              <a:gd name="adj" fmla="val 16667"/>
            </a:avLst>
          </a:prstGeom>
          <a:solidFill>
            <a:srgbClr val="FF5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591300" y="4692848"/>
            <a:ext cx="142875" cy="7620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11258550" y="3184177"/>
            <a:ext cx="142875" cy="76200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11258550" y="4315717"/>
            <a:ext cx="142875" cy="76200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8996362" y="3938587"/>
            <a:ext cx="142875" cy="1428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294264" y="2195512"/>
            <a:ext cx="1193683" cy="15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PUNTOS: 0 - 0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962025" y="3430041"/>
            <a:ext cx="48482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5050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8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🔴 Agente (RL Training)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62025" y="3938587"/>
            <a:ext cx="48482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5050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🔵 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Compañero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(Scripted AI/Humano)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962025" y="4447133"/>
            <a:ext cx="48482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5050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🟢 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Oponentes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(Advanced Scripts)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525" y="1386054"/>
            <a:ext cx="3180339" cy="3836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7886" y="1386054"/>
            <a:ext cx="3486150" cy="3836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94056" y="1386054"/>
            <a:ext cx="3825875" cy="4458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23864" y="1789681"/>
            <a:ext cx="467659" cy="42353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90448" y="2383805"/>
            <a:ext cx="277367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Estados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1022525" y="2831390"/>
            <a:ext cx="2641594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Posiciones</a:t>
            </a: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discretizadas</a:t>
            </a: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- Pelota (X, Y)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- Paleta </a:t>
            </a:r>
            <a:r>
              <a:rPr lang="en-US" b="0" i="0" u="none" strike="noStrike" cap="none" dirty="0" err="1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Agente</a:t>
            </a: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(Y)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- Paleta </a:t>
            </a:r>
            <a:r>
              <a:rPr lang="en-US" b="0" i="0" u="none" strike="noStrike" cap="none" dirty="0" err="1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Compañero</a:t>
            </a: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(Y)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- </a:t>
            </a:r>
            <a:r>
              <a:rPr lang="en-US" b="0" i="0" u="none" strike="noStrike" cap="none" dirty="0" err="1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Velocidad</a:t>
            </a: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Pelota (DX, DY)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- Cooldown Disponible (0/1)</a:t>
            </a:r>
            <a:endParaRPr sz="1600" dirty="0"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22836" y="168132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540771" y="2252829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Acciones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8613161" y="2624304"/>
            <a:ext cx="28956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 </a:t>
            </a:r>
            <a:r>
              <a:rPr lang="en-US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1</a:t>
            </a: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: Quieto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2</a:t>
            </a: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: Arriba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 3: Abajo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4: </a:t>
            </a:r>
            <a:r>
              <a:rPr lang="en-US" b="0" i="0" u="none" strike="noStrike" cap="none" dirty="0" err="1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Empujar</a:t>
            </a:r>
            <a:endParaRPr lang="en-US" b="0" i="0" u="none" strike="noStrike" cap="none" dirty="0">
              <a:solidFill>
                <a:srgbClr val="AAAAA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5: </a:t>
            </a:r>
            <a:r>
              <a:rPr lang="en-US" b="0" i="0" u="none" strike="noStrike" cap="none" dirty="0" err="1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Empujar</a:t>
            </a: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Arriba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6: </a:t>
            </a:r>
            <a:r>
              <a:rPr lang="en-US" b="0" i="0" u="none" strike="noStrike" cap="none" dirty="0" err="1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Empujar</a:t>
            </a:r>
            <a:r>
              <a:rPr lang="en-US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Abajo</a:t>
            </a:r>
            <a:endParaRPr sz="1600" dirty="0"/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20774" y="1681330"/>
            <a:ext cx="470394" cy="49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4460380" y="2252830"/>
            <a:ext cx="33366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Recompensas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4546880" y="2624305"/>
            <a:ext cx="3177776" cy="290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latinLnBrk="1">
              <a:lnSpc>
                <a:spcPct val="150000"/>
              </a:lnSpc>
            </a:pPr>
            <a:r>
              <a:rPr lang="es-MX" dirty="0">
                <a:solidFill>
                  <a:schemeClr val="bg1">
                    <a:lumMod val="75000"/>
                  </a:schemeClr>
                </a:solidFill>
              </a:rPr>
              <a:t>+50  Anotar punto</a:t>
            </a:r>
          </a:p>
          <a:p>
            <a:pPr algn="ctr" latinLnBrk="1">
              <a:lnSpc>
                <a:spcPct val="150000"/>
              </a:lnSpc>
            </a:pPr>
            <a:r>
              <a:rPr lang="es-MX" dirty="0">
                <a:solidFill>
                  <a:schemeClr val="bg1">
                    <a:lumMod val="75000"/>
                  </a:schemeClr>
                </a:solidFill>
              </a:rPr>
              <a:t>+200  Ganar partida</a:t>
            </a:r>
          </a:p>
          <a:p>
            <a:pPr algn="ctr" latinLnBrk="1">
              <a:lnSpc>
                <a:spcPct val="150000"/>
              </a:lnSpc>
            </a:pPr>
            <a:r>
              <a:rPr lang="es-MX" dirty="0">
                <a:solidFill>
                  <a:schemeClr val="bg1">
                    <a:lumMod val="75000"/>
                  </a:schemeClr>
                </a:solidFill>
              </a:rPr>
              <a:t>+10  Empuje exitoso del agente</a:t>
            </a:r>
          </a:p>
          <a:p>
            <a:pPr algn="ctr" latinLnBrk="1">
              <a:lnSpc>
                <a:spcPct val="150000"/>
              </a:lnSpc>
            </a:pPr>
            <a:r>
              <a:rPr lang="es-MX" dirty="0">
                <a:solidFill>
                  <a:schemeClr val="bg1">
                    <a:lumMod val="75000"/>
                  </a:schemeClr>
                </a:solidFill>
              </a:rPr>
              <a:t>+5  Empuje exitoso del compañero</a:t>
            </a:r>
          </a:p>
          <a:p>
            <a:pPr algn="ctr" latinLnBrk="1">
              <a:lnSpc>
                <a:spcPct val="150000"/>
              </a:lnSpc>
            </a:pPr>
            <a:r>
              <a:rPr lang="es-MX" dirty="0">
                <a:solidFill>
                  <a:schemeClr val="bg1">
                    <a:lumMod val="75000"/>
                  </a:schemeClr>
                </a:solidFill>
              </a:rPr>
              <a:t>+2  Golpe normal del agente</a:t>
            </a:r>
          </a:p>
          <a:p>
            <a:pPr algn="ctr" latinLnBrk="1">
              <a:lnSpc>
                <a:spcPct val="150000"/>
              </a:lnSpc>
            </a:pPr>
            <a:r>
              <a:rPr lang="es-MX" dirty="0">
                <a:solidFill>
                  <a:schemeClr val="bg1">
                    <a:lumMod val="75000"/>
                  </a:schemeClr>
                </a:solidFill>
              </a:rPr>
              <a:t>+1  Golpe normal del compañero</a:t>
            </a:r>
          </a:p>
          <a:p>
            <a:pPr algn="ctr" latinLnBrk="1">
              <a:lnSpc>
                <a:spcPct val="150000"/>
              </a:lnSpc>
            </a:pPr>
            <a:r>
              <a:rPr lang="es-MX" dirty="0">
                <a:solidFill>
                  <a:schemeClr val="bg1">
                    <a:lumMod val="75000"/>
                  </a:schemeClr>
                </a:solidFill>
              </a:rPr>
              <a:t>-50  Recibir punto</a:t>
            </a:r>
          </a:p>
          <a:p>
            <a:pPr algn="ctr" latinLnBrk="1">
              <a:lnSpc>
                <a:spcPct val="150000"/>
              </a:lnSpc>
            </a:pPr>
            <a:r>
              <a:rPr lang="es-MX" dirty="0">
                <a:solidFill>
                  <a:schemeClr val="bg1">
                    <a:lumMod val="75000"/>
                  </a:schemeClr>
                </a:solidFill>
              </a:rPr>
              <a:t>-200  Perder partida</a:t>
            </a:r>
          </a:p>
          <a:p>
            <a:pPr algn="ctr" latinLnBrk="1">
              <a:lnSpc>
                <a:spcPct val="150000"/>
              </a:lnSpc>
            </a:pPr>
            <a:r>
              <a:rPr lang="es-MX" dirty="0">
                <a:solidFill>
                  <a:schemeClr val="bg1">
                    <a:lumMod val="75000"/>
                  </a:schemeClr>
                </a:solidFill>
              </a:rPr>
              <a:t>-3   Empuje simultáneo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271861"/>
            <a:ext cx="5229225" cy="333330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71525" y="581025"/>
            <a:ext cx="11381422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Implementación del Agente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81025" y="581025"/>
            <a:ext cx="57150" cy="638175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581025" y="2715666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ALGORITMO Q-LEARNING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581025" y="3220491"/>
            <a:ext cx="52292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Utilizamos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una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tabla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Q (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diccionario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 para 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mapear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estados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discretos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valores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utilidad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6667500" y="2557611"/>
            <a:ext cx="489061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POLÍTICA EPSILON-GREEDY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667500" y="3062436"/>
            <a:ext cx="46577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5050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8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Exploración</a:t>
            </a:r>
            <a:r>
              <a:rPr lang="en-US" sz="18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Acciones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aleatorias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descubrir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nuevas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estrategias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47" name="Google Shape;147;p16"/>
          <p:cNvSpPr txBox="1"/>
          <p:nvPr/>
        </p:nvSpPr>
        <p:spPr>
          <a:xfrm>
            <a:off x="6667500" y="3936652"/>
            <a:ext cx="46577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5050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8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Explotación:</a:t>
            </a:r>
            <a:r>
              <a:rPr lang="en-US" sz="18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Elegir la mejor acción conocida (max Q).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667500" y="4810869"/>
            <a:ext cx="46577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5050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8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Decay:</a:t>
            </a:r>
            <a:r>
              <a:rPr lang="en-US" sz="18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Epsilon inicia en 1.0 y baja hasta 0.01.</a:t>
            </a:r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9831534-4E71-3998-BF0B-14B328B02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70" y="4613339"/>
            <a:ext cx="5612130" cy="76073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7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81200"/>
            <a:ext cx="3486150" cy="1560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981200"/>
            <a:ext cx="3486150" cy="1560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981200"/>
            <a:ext cx="3486150" cy="156016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771525" y="581025"/>
            <a:ext cx="11381422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Configuración del Entrenamiento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81025" y="581025"/>
            <a:ext cx="57150" cy="638175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581025" y="3922365"/>
            <a:ext cx="110299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"El </a:t>
            </a:r>
            <a:r>
              <a:rPr lang="en-US" sz="1800" b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entrenamiento</a:t>
            </a:r>
            <a:r>
              <a:rPr lang="en-US" sz="1800" b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se </a:t>
            </a:r>
            <a:r>
              <a:rPr lang="en-US" sz="1800" b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realiza</a:t>
            </a:r>
            <a:r>
              <a:rPr lang="en-US" sz="1800" b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contra </a:t>
            </a:r>
            <a:r>
              <a:rPr lang="en-US" sz="1800" b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oponentes</a:t>
            </a:r>
            <a:r>
              <a:rPr lang="en-US" sz="1800" b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programados</a:t>
            </a:r>
            <a:r>
              <a:rPr lang="en-US" sz="1800" b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que</a:t>
            </a:r>
            <a:r>
              <a:rPr lang="en-US" sz="1800" b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siguen</a:t>
            </a:r>
            <a:r>
              <a:rPr lang="en-US" sz="1800" b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la pelota y </a:t>
            </a:r>
            <a:r>
              <a:rPr lang="en-US" sz="1800" b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usan</a:t>
            </a:r>
            <a:r>
              <a:rPr lang="en-US" sz="1800" b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empujes</a:t>
            </a:r>
            <a:r>
              <a:rPr lang="en-US" sz="1800" b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ocasionales</a:t>
            </a:r>
            <a:r>
              <a:rPr lang="en-US" sz="1800" b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."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803910" y="2276475"/>
            <a:ext cx="304038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4000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76300" y="2828925"/>
            <a:ext cx="289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Episodios Totales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575810" y="2276475"/>
            <a:ext cx="304038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0.1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4648200" y="2828925"/>
            <a:ext cx="289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Alpha (Tasa de Aprendizaje)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347710" y="2276475"/>
            <a:ext cx="304038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0.99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420100" y="2828925"/>
            <a:ext cx="289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Gamma (Factor de Descuento)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771525" y="581025"/>
            <a:ext cx="11381422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Resultados y Evolución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81025" y="581025"/>
            <a:ext cx="57150" cy="638175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581025" y="4552950"/>
            <a:ext cx="110299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Episodio</a:t>
            </a:r>
            <a:r>
              <a:rPr lang="en-US" sz="1200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0 </a:t>
            </a:r>
            <a:r>
              <a:rPr lang="en-US" sz="1200" b="0" i="0" u="none" strike="noStrike" cap="none" dirty="0" err="1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Episodio</a:t>
            </a:r>
            <a:r>
              <a:rPr lang="en-US" sz="1200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2000 </a:t>
            </a:r>
            <a:r>
              <a:rPr lang="en-US" sz="1200" b="0" i="0" u="none" strike="noStrike" cap="none" dirty="0" err="1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Episodio</a:t>
            </a:r>
            <a:r>
              <a:rPr lang="en-US" sz="1200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4000</a:t>
            </a:r>
            <a:endParaRPr dirty="0"/>
          </a:p>
        </p:txBody>
      </p:sp>
      <p:sp>
        <p:nvSpPr>
          <p:cNvPr id="174" name="Google Shape;174;p18"/>
          <p:cNvSpPr txBox="1"/>
          <p:nvPr/>
        </p:nvSpPr>
        <p:spPr>
          <a:xfrm>
            <a:off x="581025" y="5019675"/>
            <a:ext cx="590073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INICIO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960518" y="5019675"/>
            <a:ext cx="365045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FINAL</a:t>
            </a: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9EB755C-82D9-9FA7-9D8D-E5CCBDFCF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64" y="1498910"/>
            <a:ext cx="11324272" cy="46534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5C277CBF-A234-F070-14DA-3FA7A6433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 descr="image.png">
            <a:extLst>
              <a:ext uri="{FF2B5EF4-FFF2-40B4-BE49-F238E27FC236}">
                <a16:creationId xmlns:a16="http://schemas.microsoft.com/office/drawing/2014/main" id="{D02A5DA6-2095-7584-5B69-B935C2EA24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>
            <a:extLst>
              <a:ext uri="{FF2B5EF4-FFF2-40B4-BE49-F238E27FC236}">
                <a16:creationId xmlns:a16="http://schemas.microsoft.com/office/drawing/2014/main" id="{D269823B-3957-40B7-2110-851B203356CC}"/>
              </a:ext>
            </a:extLst>
          </p:cNvPr>
          <p:cNvSpPr txBox="1"/>
          <p:nvPr/>
        </p:nvSpPr>
        <p:spPr>
          <a:xfrm>
            <a:off x="771525" y="581025"/>
            <a:ext cx="11381422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Resultados y Evolución</a:t>
            </a:r>
            <a:endParaRPr/>
          </a:p>
        </p:txBody>
      </p:sp>
      <p:sp>
        <p:nvSpPr>
          <p:cNvPr id="172" name="Google Shape;172;p18">
            <a:extLst>
              <a:ext uri="{FF2B5EF4-FFF2-40B4-BE49-F238E27FC236}">
                <a16:creationId xmlns:a16="http://schemas.microsoft.com/office/drawing/2014/main" id="{0AA01D77-BB03-3398-FF19-9695B9C627DB}"/>
              </a:ext>
            </a:extLst>
          </p:cNvPr>
          <p:cNvSpPr/>
          <p:nvPr/>
        </p:nvSpPr>
        <p:spPr>
          <a:xfrm>
            <a:off x="581025" y="581025"/>
            <a:ext cx="57150" cy="638175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>
            <a:extLst>
              <a:ext uri="{FF2B5EF4-FFF2-40B4-BE49-F238E27FC236}">
                <a16:creationId xmlns:a16="http://schemas.microsoft.com/office/drawing/2014/main" id="{BE08619D-1412-A1E1-8A08-095EC9416645}"/>
              </a:ext>
            </a:extLst>
          </p:cNvPr>
          <p:cNvSpPr txBox="1"/>
          <p:nvPr/>
        </p:nvSpPr>
        <p:spPr>
          <a:xfrm>
            <a:off x="581025" y="4552950"/>
            <a:ext cx="110299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Episodio</a:t>
            </a:r>
            <a:r>
              <a:rPr lang="en-US" sz="1200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0 </a:t>
            </a:r>
            <a:r>
              <a:rPr lang="en-US" sz="1200" b="0" i="0" u="none" strike="noStrike" cap="none" dirty="0" err="1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Episodio</a:t>
            </a:r>
            <a:r>
              <a:rPr lang="en-US" sz="1200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2000 </a:t>
            </a:r>
            <a:r>
              <a:rPr lang="en-US" sz="1200" b="0" i="0" u="none" strike="noStrike" cap="none" dirty="0" err="1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Episodio</a:t>
            </a:r>
            <a:r>
              <a:rPr lang="en-US" sz="1200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4000</a:t>
            </a:r>
            <a:endParaRPr dirty="0"/>
          </a:p>
        </p:txBody>
      </p:sp>
      <p:sp>
        <p:nvSpPr>
          <p:cNvPr id="174" name="Google Shape;174;p18">
            <a:extLst>
              <a:ext uri="{FF2B5EF4-FFF2-40B4-BE49-F238E27FC236}">
                <a16:creationId xmlns:a16="http://schemas.microsoft.com/office/drawing/2014/main" id="{B930FFC5-9225-140D-9A63-8914487077AC}"/>
              </a:ext>
            </a:extLst>
          </p:cNvPr>
          <p:cNvSpPr txBox="1"/>
          <p:nvPr/>
        </p:nvSpPr>
        <p:spPr>
          <a:xfrm>
            <a:off x="581025" y="5019675"/>
            <a:ext cx="590073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INICIO</a:t>
            </a:r>
            <a:endParaRPr/>
          </a:p>
        </p:txBody>
      </p:sp>
      <p:sp>
        <p:nvSpPr>
          <p:cNvPr id="176" name="Google Shape;176;p18">
            <a:extLst>
              <a:ext uri="{FF2B5EF4-FFF2-40B4-BE49-F238E27FC236}">
                <a16:creationId xmlns:a16="http://schemas.microsoft.com/office/drawing/2014/main" id="{F470D9CE-F0A0-753D-F035-F27ADD6237BF}"/>
              </a:ext>
            </a:extLst>
          </p:cNvPr>
          <p:cNvSpPr txBox="1"/>
          <p:nvPr/>
        </p:nvSpPr>
        <p:spPr>
          <a:xfrm>
            <a:off x="7960518" y="5019675"/>
            <a:ext cx="365045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FINAL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BC14A89-1D21-E92B-6F54-AF3CE81E2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" y="1638226"/>
            <a:ext cx="11308080" cy="427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152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316</Words>
  <Application>Microsoft Office PowerPoint</Application>
  <PresentationFormat>Panorámica</PresentationFormat>
  <Paragraphs>51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Calibri</vt:lpstr>
      <vt:lpstr>Urbanist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Kokun Capo</cp:lastModifiedBy>
  <cp:revision>23</cp:revision>
  <dcterms:modified xsi:type="dcterms:W3CDTF">2025-11-29T15:12:21Z</dcterms:modified>
</cp:coreProperties>
</file>